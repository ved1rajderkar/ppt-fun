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7" r:id="rId4"/>
    <p:sldId id="263" r:id="rId5"/>
    <p:sldId id="266" r:id="rId6"/>
    <p:sldId id="268" r:id="rId7"/>
    <p:sldId id="269" r:id="rId8"/>
  </p:sldIdLst>
  <p:sldSz cx="9144000" cy="5143500" type="screen16x9"/>
  <p:notesSz cx="6858000" cy="9144000"/>
  <p:embeddedFontLst>
    <p:embeddedFont>
      <p:font typeface="Bebas Neue" charset="0"/>
      <p:regular r:id="rId10"/>
    </p:embeddedFont>
    <p:embeddedFont>
      <p:font typeface="DM Serif Display" charset="0"/>
      <p:regular r:id="rId11"/>
      <p:italic r:id="rId12"/>
    </p:embeddedFont>
    <p:embeddedFont>
      <p:font typeface="Chivo" charset="0"/>
      <p:regular r:id="rId13"/>
      <p:bold r:id="rId14"/>
      <p:italic r:id="rId15"/>
      <p:boldItalic r:id="rId16"/>
    </p:embeddedFont>
    <p:embeddedFont>
      <p:font typeface="Montserrat Medium" charset="0"/>
      <p:regular r:id="rId17"/>
      <p:bold r:id="rId18"/>
      <p:italic r:id="rId19"/>
      <p:boldItalic r:id="rId20"/>
    </p:embeddedFont>
    <p:embeddedFont>
      <p:font typeface="Calibri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43">
          <p15:clr>
            <a:srgbClr val="A4A3A4"/>
          </p15:clr>
        </p15:guide>
        <p15:guide id="2" orient="horz" pos="2799">
          <p15:clr>
            <a:srgbClr val="A4A3A4"/>
          </p15:clr>
        </p15:guide>
        <p15:guide id="3" pos="453">
          <p15:clr>
            <a:srgbClr val="547EBF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juLEV5YkJYNGG8J4J2A5gUncHF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17603406-FA06-4DD6-A561-E7EF3DCCCF18}">
  <a:tblStyle styleId="{17603406-FA06-4DD6-A561-E7EF3DCCCF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752DA06-C1A1-43C4-87DD-790B3C3F5AC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94" y="-570"/>
      </p:cViewPr>
      <p:guideLst>
        <p:guide orient="horz" pos="1643"/>
        <p:guide orient="horz" pos="2799"/>
        <p:guide pos="4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72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9" name="Google Shape;5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2"/>
          <p:cNvSpPr txBox="1">
            <a:spLocks noGrp="1"/>
          </p:cNvSpPr>
          <p:nvPr>
            <p:ph type="ctrTitle"/>
          </p:nvPr>
        </p:nvSpPr>
        <p:spPr>
          <a:xfrm>
            <a:off x="1518589" y="1253834"/>
            <a:ext cx="6106822" cy="198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DM Serif Display"/>
              <a:buNone/>
              <a:defRPr sz="58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subTitle" idx="1"/>
          </p:nvPr>
        </p:nvSpPr>
        <p:spPr>
          <a:xfrm>
            <a:off x="1518589" y="3170566"/>
            <a:ext cx="6106822" cy="43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>
            <a:spLocks noGrp="1"/>
          </p:cNvSpPr>
          <p:nvPr>
            <p:ph type="title"/>
          </p:nvPr>
        </p:nvSpPr>
        <p:spPr>
          <a:xfrm>
            <a:off x="723900" y="586740"/>
            <a:ext cx="7696200" cy="71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erif Display"/>
              <a:buNone/>
              <a:defRPr sz="38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>
            <a:spLocks noGrp="1"/>
          </p:cNvSpPr>
          <p:nvPr>
            <p:ph type="title"/>
          </p:nvPr>
        </p:nvSpPr>
        <p:spPr>
          <a:xfrm>
            <a:off x="725955" y="1082040"/>
            <a:ext cx="2222986" cy="1744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erif Display"/>
              <a:buNone/>
              <a:defRPr sz="38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>
            <a:spLocks noGrp="1"/>
          </p:cNvSpPr>
          <p:nvPr>
            <p:ph type="pic" idx="2"/>
          </p:nvPr>
        </p:nvSpPr>
        <p:spPr>
          <a:xfrm>
            <a:off x="4925642" y="552450"/>
            <a:ext cx="3443284" cy="4038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49"/>
          <p:cNvSpPr txBox="1">
            <a:spLocks noGrp="1"/>
          </p:cNvSpPr>
          <p:nvPr>
            <p:ph type="body" idx="1"/>
          </p:nvPr>
        </p:nvSpPr>
        <p:spPr>
          <a:xfrm>
            <a:off x="725955" y="2730341"/>
            <a:ext cx="3354662" cy="112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1"/>
          <p:cNvSpPr txBox="1">
            <a:spLocks noGrp="1"/>
          </p:cNvSpPr>
          <p:nvPr>
            <p:ph type="title"/>
          </p:nvPr>
        </p:nvSpPr>
        <p:spPr>
          <a:xfrm>
            <a:off x="723900" y="588169"/>
            <a:ext cx="7696200" cy="93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erif Display"/>
              <a:buNone/>
              <a:defRPr sz="38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9"/>
          <p:cNvSpPr txBox="1">
            <a:spLocks noGrp="1"/>
          </p:cNvSpPr>
          <p:nvPr>
            <p:ph type="title"/>
          </p:nvPr>
        </p:nvSpPr>
        <p:spPr>
          <a:xfrm>
            <a:off x="628650" y="1243260"/>
            <a:ext cx="7886700" cy="265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0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erif Display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body" idx="1"/>
          </p:nvPr>
        </p:nvSpPr>
        <p:spPr>
          <a:xfrm>
            <a:off x="723900" y="175260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Chivo"/>
                <a:ea typeface="Chivo"/>
                <a:cs typeface="Chivo"/>
                <a:sym typeface="Chiv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>
            <a:alpha val="0"/>
          </a:srgbClr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2"/>
          <p:cNvSpPr txBox="1">
            <a:spLocks noGrp="1"/>
          </p:cNvSpPr>
          <p:nvPr>
            <p:ph type="title"/>
          </p:nvPr>
        </p:nvSpPr>
        <p:spPr>
          <a:xfrm>
            <a:off x="723900" y="587825"/>
            <a:ext cx="7696200" cy="1069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erif Display"/>
              <a:buNone/>
              <a:defRPr sz="38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348">
          <p15:clr>
            <a:srgbClr val="F26B43"/>
          </p15:clr>
        </p15:guide>
        <p15:guide id="2" orient="horz" pos="2892">
          <p15:clr>
            <a:srgbClr val="F26B43"/>
          </p15:clr>
        </p15:guide>
        <p15:guide id="3" pos="317">
          <p15:clr>
            <a:srgbClr val="F26B43"/>
          </p15:clr>
        </p15:guide>
        <p15:guide id="4" pos="5304">
          <p15:clr>
            <a:srgbClr val="F26B43"/>
          </p15:clr>
        </p15:guide>
        <p15:guide id="5" pos="2880">
          <p15:clr>
            <a:srgbClr val="F26B43"/>
          </p15:clr>
        </p15:guide>
        <p15:guide id="6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/>
          <p:nvPr/>
        </p:nvSpPr>
        <p:spPr>
          <a:xfrm>
            <a:off x="7466536" y="3236374"/>
            <a:ext cx="3848100" cy="3848100"/>
          </a:xfrm>
          <a:prstGeom prst="donu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5202051" y="4425925"/>
            <a:ext cx="3941949" cy="434384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-1279352" y="1452793"/>
            <a:ext cx="2237911" cy="2237911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554360" y="0"/>
            <a:ext cx="2011760" cy="448740"/>
          </a:xfrm>
          <a:prstGeom prst="flowChartProcess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566120" y="0"/>
            <a:ext cx="2011760" cy="44874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577880" y="0"/>
            <a:ext cx="2011760" cy="448740"/>
          </a:xfrm>
          <a:prstGeom prst="flowChartProcess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1518589" y="1253834"/>
            <a:ext cx="6106822" cy="198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 smtClean="0"/>
              <a:t>Decomposers and Their Role</a:t>
            </a:r>
            <a:endParaRPr lang="en-US" dirty="0"/>
          </a:p>
        </p:txBody>
      </p:sp>
      <p:sp>
        <p:nvSpPr>
          <p:cNvPr id="95" name="Google Shape;95;p1"/>
          <p:cNvSpPr/>
          <p:nvPr/>
        </p:nvSpPr>
        <p:spPr>
          <a:xfrm>
            <a:off x="1554360" y="0"/>
            <a:ext cx="2011760" cy="5143500"/>
          </a:xfrm>
          <a:prstGeom prst="flowChartProcess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530607" y="0"/>
            <a:ext cx="2011760" cy="514350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5533491" y="0"/>
            <a:ext cx="2011760" cy="5143500"/>
          </a:xfrm>
          <a:prstGeom prst="flowChartProcess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0" y="0"/>
            <a:ext cx="4572000" cy="51435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4572000" y="0"/>
            <a:ext cx="4572000" cy="51435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2390614" y="461268"/>
            <a:ext cx="3848100" cy="3848100"/>
          </a:xfrm>
          <a:prstGeom prst="donu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4138466" y="2141493"/>
            <a:ext cx="3941949" cy="434384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756043" y="1248608"/>
            <a:ext cx="2237911" cy="2237911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-1131684" y="3212016"/>
            <a:ext cx="2758068" cy="275806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title"/>
          </p:nvPr>
        </p:nvSpPr>
        <p:spPr>
          <a:xfrm>
            <a:off x="723900" y="586740"/>
            <a:ext cx="7696200" cy="71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dirty="0"/>
              <a:t>Contents of </a:t>
            </a:r>
            <a:r>
              <a:rPr lang="en" dirty="0">
                <a:solidFill>
                  <a:schemeClr val="dk2"/>
                </a:solidFill>
              </a:rPr>
              <a:t>this </a:t>
            </a:r>
            <a:r>
              <a:rPr lang="en" dirty="0" smtClean="0">
                <a:solidFill>
                  <a:schemeClr val="dk2"/>
                </a:solidFill>
              </a:rPr>
              <a:t>topic</a:t>
            </a:r>
            <a:endParaRPr dirty="0"/>
          </a:p>
        </p:txBody>
      </p:sp>
      <p:graphicFrame>
        <p:nvGraphicFramePr>
          <p:cNvPr id="112" name="Google Shape;112;p2"/>
          <p:cNvGraphicFramePr/>
          <p:nvPr/>
        </p:nvGraphicFramePr>
        <p:xfrm>
          <a:off x="624840" y="1626066"/>
          <a:ext cx="7894325" cy="2250500"/>
        </p:xfrm>
        <a:graphic>
          <a:graphicData uri="http://schemas.openxmlformats.org/drawingml/2006/table">
            <a:tbl>
              <a:tblPr firstRow="1" bandRow="1">
                <a:noFill/>
                <a:tableStyleId>{17603406-FA06-4DD6-A561-E7EF3DCCCF18}</a:tableStyleId>
              </a:tblPr>
              <a:tblGrid>
                <a:gridCol w="2520050"/>
                <a:gridCol w="53742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u="sng" strike="noStrike" cap="none" dirty="0" smtClean="0">
                          <a:solidFill>
                            <a:schemeClr val="dk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Definition</a:t>
                      </a:r>
                      <a:endParaRPr lang="en-US" sz="1300" b="0" u="none" strike="noStrike" cap="none" dirty="0" smtClean="0">
                        <a:solidFill>
                          <a:schemeClr val="dk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Chivo" charset="0"/>
                          <a:ea typeface="Chivo" charset="0"/>
                          <a:cs typeface="Chivo" charset="0"/>
                          <a:sym typeface="Arial"/>
                        </a:rPr>
                        <a:t>Organisms that break down dead matter (bacteria, fungi, earthworms</a:t>
                      </a:r>
                      <a:endParaRPr sz="1000" u="none" strike="noStrike" cap="none" dirty="0">
                        <a:solidFill>
                          <a:srgbClr val="000000"/>
                        </a:solidFill>
                        <a:latin typeface="Chivo" charset="0"/>
                        <a:ea typeface="Chivo" charset="0"/>
                        <a:cs typeface="Chivo" charset="0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sng" strike="noStrike" cap="none" dirty="0" smtClean="0">
                          <a:solidFill>
                            <a:srgbClr val="000000"/>
                          </a:solidFill>
                          <a:latin typeface="Bebas Neue" charset="0"/>
                          <a:ea typeface="Arial"/>
                          <a:cs typeface="Arial"/>
                          <a:sym typeface="Arial"/>
                        </a:rPr>
                        <a:t>Nutrient Recycling</a:t>
                      </a:r>
                      <a:endParaRPr sz="1300" b="0" u="sng" strike="noStrike" cap="none" dirty="0">
                        <a:solidFill>
                          <a:schemeClr val="dk1"/>
                        </a:solidFill>
                        <a:latin typeface="Bebas Neue" charset="0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Chivo" charset="0"/>
                          <a:ea typeface="Chivo" charset="0"/>
                          <a:cs typeface="Chivo" charset="0"/>
                          <a:sym typeface="Arial"/>
                        </a:rPr>
                        <a:t>Release elements like nitrogen, carbon, and phosphorus to soil and water for reuse by plants</a:t>
                      </a:r>
                      <a:endParaRPr sz="1000" u="none" strike="noStrike" cap="none" dirty="0">
                        <a:solidFill>
                          <a:srgbClr val="000000"/>
                        </a:solidFill>
                        <a:latin typeface="Chivo" charset="0"/>
                        <a:ea typeface="Chivo" charset="0"/>
                        <a:cs typeface="Chivo" charset="0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sng" strike="noStrike" cap="none" dirty="0" smtClean="0">
                          <a:solidFill>
                            <a:srgbClr val="000000"/>
                          </a:solidFill>
                          <a:latin typeface="Bebas Neue" charset="0"/>
                          <a:ea typeface="Arial"/>
                          <a:cs typeface="Arial"/>
                          <a:sym typeface="Arial"/>
                        </a:rPr>
                        <a:t>Soil Formation</a:t>
                      </a:r>
                      <a:endParaRPr sz="1300" b="0" u="sng" strike="noStrike" cap="none" dirty="0">
                        <a:solidFill>
                          <a:schemeClr val="dk1"/>
                        </a:solidFill>
                        <a:latin typeface="Bebas Neue" charset="0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Chivo" charset="0"/>
                          <a:ea typeface="Chivo" charset="0"/>
                          <a:cs typeface="Chivo" charset="0"/>
                          <a:sym typeface="Arial"/>
                        </a:rPr>
                        <a:t>Enhance fertility and maintain soil structure</a:t>
                      </a:r>
                      <a:endParaRPr sz="1000" u="none" strike="noStrike" cap="none" dirty="0">
                        <a:solidFill>
                          <a:srgbClr val="000000"/>
                        </a:solidFill>
                        <a:latin typeface="Chivo" charset="0"/>
                        <a:ea typeface="Chivo" charset="0"/>
                        <a:cs typeface="Chivo" charset="0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sng" strike="noStrike" cap="none" dirty="0" smtClean="0">
                          <a:solidFill>
                            <a:srgbClr val="000000"/>
                          </a:solidFill>
                          <a:latin typeface="Bebas Neue" charset="0"/>
                          <a:ea typeface="Arial"/>
                          <a:cs typeface="Arial"/>
                          <a:sym typeface="Arial"/>
                        </a:rPr>
                        <a:t>Waste Removal</a:t>
                      </a:r>
                      <a:endParaRPr sz="1300" b="0" u="sng" strike="noStrike" cap="none" dirty="0">
                        <a:solidFill>
                          <a:schemeClr val="dk1"/>
                        </a:solidFill>
                        <a:latin typeface="Bebas Neue" charset="0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Chivo" charset="0"/>
                          <a:ea typeface="Chivo" charset="0"/>
                          <a:cs typeface="Chivo" charset="0"/>
                          <a:sym typeface="Arial"/>
                        </a:rPr>
                        <a:t>Break down dead matter and organic waste, cleaning the environment</a:t>
                      </a:r>
                      <a:endParaRPr sz="1000" u="none" strike="noStrike" cap="none" dirty="0">
                        <a:solidFill>
                          <a:srgbClr val="000000"/>
                        </a:solidFill>
                        <a:latin typeface="Chivo" charset="0"/>
                        <a:ea typeface="Chivo" charset="0"/>
                        <a:cs typeface="Chivo" charset="0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sng" strike="noStrike" cap="none" dirty="0" smtClean="0">
                          <a:solidFill>
                            <a:srgbClr val="000000"/>
                          </a:solidFill>
                          <a:latin typeface="Bebas Neue" charset="0"/>
                          <a:ea typeface="Arial"/>
                          <a:cs typeface="Arial"/>
                          <a:sym typeface="Arial"/>
                        </a:rPr>
                        <a:t>Supporting Food Web</a:t>
                      </a:r>
                      <a:endParaRPr sz="1300" b="0" u="sng" strike="noStrike" cap="none" dirty="0">
                        <a:solidFill>
                          <a:schemeClr val="dk1"/>
                        </a:solidFill>
                        <a:latin typeface="Bebas Neue" charset="0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Chivo" charset="0"/>
                          <a:ea typeface="Chivo" charset="0"/>
                          <a:cs typeface="Chivo" charset="0"/>
                          <a:sym typeface="Arial"/>
                        </a:rPr>
                        <a:t>Make nutrients available to producers, supporting all </a:t>
                      </a:r>
                      <a:r>
                        <a:rPr lang="en-US" sz="1000" b="0" i="0" u="none" strike="noStrike" cap="none" dirty="0" err="1" smtClean="0">
                          <a:solidFill>
                            <a:srgbClr val="000000"/>
                          </a:solidFill>
                          <a:latin typeface="Chivo" charset="0"/>
                          <a:ea typeface="Chivo" charset="0"/>
                          <a:cs typeface="Chivo" charset="0"/>
                          <a:sym typeface="Arial"/>
                        </a:rPr>
                        <a:t>trophic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Chivo" charset="0"/>
                          <a:ea typeface="Chivo" charset="0"/>
                          <a:cs typeface="Chivo" charset="0"/>
                          <a:sym typeface="Arial"/>
                        </a:rPr>
                        <a:t> levels</a:t>
                      </a:r>
                      <a:endParaRPr sz="1000" u="none" strike="noStrike" cap="none" dirty="0">
                        <a:solidFill>
                          <a:srgbClr val="000000"/>
                        </a:solidFill>
                        <a:latin typeface="Chivo" charset="0"/>
                        <a:ea typeface="Chivo" charset="0"/>
                        <a:cs typeface="Chivo" charset="0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sng" strike="noStrike" cap="none" dirty="0" smtClean="0">
                          <a:solidFill>
                            <a:srgbClr val="000000"/>
                          </a:solidFill>
                          <a:latin typeface="Bebas Neue" charset="0"/>
                          <a:ea typeface="Arial"/>
                          <a:cs typeface="Arial"/>
                          <a:sym typeface="Arial"/>
                        </a:rPr>
                        <a:t>Disease Control</a:t>
                      </a:r>
                      <a:endParaRPr sz="1300" u="sng" dirty="0">
                        <a:latin typeface="Bebas Neue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Chivo" charset="0"/>
                          <a:ea typeface="Chivo" charset="0"/>
                          <a:cs typeface="Chivo" charset="0"/>
                          <a:sym typeface="Arial"/>
                        </a:rPr>
                        <a:t>Decompose dead/diseased organisms, reduce pathogens</a:t>
                      </a:r>
                      <a:r>
                        <a:rPr lang="en" sz="1000" b="1" u="sng" strike="noStrike" cap="none" dirty="0" smtClean="0">
                          <a:solidFill>
                            <a:srgbClr val="000000"/>
                          </a:solidFill>
                          <a:latin typeface="Chivo"/>
                          <a:ea typeface="Chivo"/>
                          <a:cs typeface="Chivo"/>
                          <a:sym typeface="Chivo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e</a:t>
                      </a:r>
                      <a:endParaRPr sz="1000" u="none" strike="noStrike" cap="none" dirty="0">
                        <a:solidFill>
                          <a:srgbClr val="000000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2"/>
          <p:cNvSpPr/>
          <p:nvPr/>
        </p:nvSpPr>
        <p:spPr>
          <a:xfrm rot="5400000">
            <a:off x="355145" y="0"/>
            <a:ext cx="1271239" cy="1271239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7212714" y="262869"/>
            <a:ext cx="731561" cy="73156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166431" y="-185389"/>
            <a:ext cx="1628078" cy="1628078"/>
          </a:xfrm>
          <a:prstGeom prst="donut">
            <a:avLst>
              <a:gd name="adj" fmla="val 25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7543800" y="468816"/>
            <a:ext cx="1684020" cy="31966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 flipH="1">
            <a:off x="7851606" y="3851106"/>
            <a:ext cx="1292394" cy="1292394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8100133" y="4129031"/>
            <a:ext cx="676548" cy="676548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643685" y="4772266"/>
            <a:ext cx="185854" cy="185854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3996807" y="4772266"/>
            <a:ext cx="185854" cy="185854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4349929" y="4772266"/>
            <a:ext cx="185854" cy="185854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4703051" y="4772266"/>
            <a:ext cx="185854" cy="185854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2"/>
          <p:cNvSpPr/>
          <p:nvPr/>
        </p:nvSpPr>
        <p:spPr>
          <a:xfrm>
            <a:off x="-1169009" y="-1234059"/>
            <a:ext cx="2720952" cy="2720952"/>
          </a:xfrm>
          <a:prstGeom prst="donut">
            <a:avLst>
              <a:gd name="adj" fmla="val 25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2"/>
          <p:cNvSpPr txBox="1">
            <a:spLocks noGrp="1"/>
          </p:cNvSpPr>
          <p:nvPr>
            <p:ph type="title"/>
          </p:nvPr>
        </p:nvSpPr>
        <p:spPr>
          <a:xfrm>
            <a:off x="723900" y="588169"/>
            <a:ext cx="7696200" cy="93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erif Display"/>
              <a:buNone/>
            </a:pPr>
            <a:r>
              <a:rPr lang="en"/>
              <a:t>This is </a:t>
            </a:r>
            <a:r>
              <a:rPr lang="en">
                <a:solidFill>
                  <a:schemeClr val="dk2"/>
                </a:solidFill>
              </a:rPr>
              <a:t>a table</a:t>
            </a:r>
            <a:endParaRPr/>
          </a:p>
        </p:txBody>
      </p:sp>
      <p:graphicFrame>
        <p:nvGraphicFramePr>
          <p:cNvPr id="513" name="Google Shape;513;p12"/>
          <p:cNvGraphicFramePr/>
          <p:nvPr/>
        </p:nvGraphicFramePr>
        <p:xfrm>
          <a:off x="942556" y="1611899"/>
          <a:ext cx="7258900" cy="2540725"/>
        </p:xfrm>
        <a:graphic>
          <a:graphicData uri="http://schemas.openxmlformats.org/drawingml/2006/table">
            <a:tbl>
              <a:tblPr>
                <a:noFill/>
                <a:tableStyleId>{9752DA06-C1A1-43C4-87DD-790B3C3F5AC0}</a:tableStyleId>
              </a:tblPr>
              <a:tblGrid>
                <a:gridCol w="1814725"/>
                <a:gridCol w="1814725"/>
                <a:gridCol w="1814725"/>
                <a:gridCol w="1814725"/>
              </a:tblGrid>
              <a:tr h="768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sng" strike="noStrike" cap="none" dirty="0" smtClean="0">
                          <a:solidFill>
                            <a:srgbClr val="000000"/>
                          </a:solidFill>
                          <a:latin typeface="Bebas Neue" charset="0"/>
                          <a:ea typeface="Arial"/>
                          <a:cs typeface="Arial"/>
                          <a:sym typeface="Arial"/>
                        </a:rPr>
                        <a:t>Decomposer Type</a:t>
                      </a:r>
                      <a:endParaRPr sz="2500" u="sng" strike="noStrike" cap="none" dirty="0">
                        <a:latin typeface="Bebas Neue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sng" strike="noStrike" cap="none" dirty="0" smtClean="0">
                          <a:solidFill>
                            <a:srgbClr val="000000"/>
                          </a:solidFill>
                          <a:latin typeface="Bebas Neue" charset="0"/>
                          <a:ea typeface="Arial"/>
                          <a:cs typeface="Arial"/>
                          <a:sym typeface="Arial"/>
                        </a:rPr>
                        <a:t>Nutrient Recycling</a:t>
                      </a:r>
                      <a:endParaRPr sz="2500" u="sng" dirty="0">
                        <a:latin typeface="Bebas Neue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sng" strike="noStrike" cap="none" dirty="0" smtClean="0">
                          <a:solidFill>
                            <a:srgbClr val="000000"/>
                          </a:solidFill>
                          <a:latin typeface="Bebas Neue" charset="0"/>
                          <a:ea typeface="Arial"/>
                          <a:cs typeface="Arial"/>
                          <a:sym typeface="Arial"/>
                        </a:rPr>
                        <a:t>Soil Enrichment</a:t>
                      </a:r>
                      <a:endParaRPr sz="2500" u="sng" dirty="0">
                        <a:latin typeface="Bebas Neue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sng" strike="noStrike" cap="none" dirty="0" smtClean="0">
                          <a:solidFill>
                            <a:srgbClr val="000000"/>
                          </a:solidFill>
                          <a:latin typeface="Bebas Neue" charset="0"/>
                          <a:ea typeface="Arial"/>
                          <a:cs typeface="Arial"/>
                          <a:sym typeface="Arial"/>
                        </a:rPr>
                        <a:t>Disease Control</a:t>
                      </a:r>
                      <a:endParaRPr sz="2500" u="sng" dirty="0">
                        <a:latin typeface="Bebas Neue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56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u="none" strike="noStrike" cap="none" dirty="0" smtClean="0">
                          <a:solidFill>
                            <a:schemeClr val="dk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B</a:t>
                      </a:r>
                      <a:r>
                        <a:rPr lang="en" sz="2500" b="0" u="none" strike="noStrike" cap="none" dirty="0" smtClean="0">
                          <a:solidFill>
                            <a:schemeClr val="dk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acteria</a:t>
                      </a:r>
                      <a:endParaRPr sz="2500" b="0" u="none" strike="noStrike" cap="none" dirty="0">
                        <a:solidFill>
                          <a:schemeClr val="dk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500" u="none" strike="noStrike" cap="none" dirty="0">
                        <a:solidFill>
                          <a:srgbClr val="000000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  <a:endParaRPr sz="1500" u="none" strike="noStrike" cap="none" dirty="0">
                        <a:solidFill>
                          <a:srgbClr val="000000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500" u="none" strike="noStrike" cap="none" dirty="0">
                        <a:solidFill>
                          <a:srgbClr val="000000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56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u="none" strike="noStrike" cap="none" dirty="0" smtClean="0">
                          <a:solidFill>
                            <a:schemeClr val="dk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F</a:t>
                      </a:r>
                      <a:r>
                        <a:rPr lang="en" sz="2500" b="0" u="none" strike="noStrike" cap="none" dirty="0" smtClean="0">
                          <a:solidFill>
                            <a:schemeClr val="dk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ungi</a:t>
                      </a:r>
                      <a:endParaRPr sz="2500" b="0" u="none" strike="noStrike" cap="none" dirty="0">
                        <a:solidFill>
                          <a:schemeClr val="dk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500" u="none" strike="noStrike" cap="none" dirty="0">
                        <a:solidFill>
                          <a:srgbClr val="000000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500" u="none" strike="noStrike" cap="none" dirty="0">
                        <a:solidFill>
                          <a:srgbClr val="000000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  <a:endParaRPr sz="1500" u="none" strike="noStrike" cap="none" dirty="0">
                        <a:solidFill>
                          <a:srgbClr val="000000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56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0" u="none" strike="noStrike" cap="none" dirty="0" smtClean="0">
                          <a:solidFill>
                            <a:schemeClr val="dk1"/>
                          </a:solidFill>
                          <a:latin typeface="Bebas Neue"/>
                          <a:sym typeface="Bebas Neue"/>
                        </a:rPr>
                        <a:t>earthworms</a:t>
                      </a:r>
                      <a:endParaRPr dirty="0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  <a:endParaRPr sz="1500" u="none" strike="noStrike" cap="none" dirty="0">
                        <a:solidFill>
                          <a:srgbClr val="000000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500" u="none" strike="noStrike" cap="none" dirty="0">
                        <a:solidFill>
                          <a:srgbClr val="000000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  <a:endParaRPr sz="1500" u="none" strike="noStrike" cap="none" dirty="0">
                        <a:solidFill>
                          <a:srgbClr val="000000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14" name="Google Shape;514;p12"/>
          <p:cNvSpPr/>
          <p:nvPr/>
        </p:nvSpPr>
        <p:spPr>
          <a:xfrm>
            <a:off x="814460" y="823093"/>
            <a:ext cx="185854" cy="18585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1195855" y="823093"/>
            <a:ext cx="185854" cy="18585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1548977" y="823093"/>
            <a:ext cx="185854" cy="18585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1902099" y="823093"/>
            <a:ext cx="185854" cy="18585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6863787" y="612938"/>
            <a:ext cx="2280213" cy="434384"/>
          </a:xfrm>
          <a:prstGeom prst="flowChartProcess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0" y="4242889"/>
            <a:ext cx="917126" cy="917126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7517341" y="497888"/>
            <a:ext cx="684103" cy="6392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39" descr="soil-food-web-map-copy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7358" r="17358"/>
          <a:stretch>
            <a:fillRect/>
          </a:stretch>
        </p:blipFill>
        <p:spPr/>
      </p:pic>
      <p:sp>
        <p:nvSpPr>
          <p:cNvPr id="275" name="Google Shape;275;p8"/>
          <p:cNvSpPr/>
          <p:nvPr/>
        </p:nvSpPr>
        <p:spPr>
          <a:xfrm>
            <a:off x="0" y="-2"/>
            <a:ext cx="503238" cy="514350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 txBox="1">
            <a:spLocks noGrp="1"/>
          </p:cNvSpPr>
          <p:nvPr>
            <p:ph type="title"/>
          </p:nvPr>
        </p:nvSpPr>
        <p:spPr>
          <a:xfrm>
            <a:off x="725955" y="1082040"/>
            <a:ext cx="2222986" cy="1744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sz="2400" dirty="0" smtClean="0"/>
              <a:t>“The Essential Role of Decomposers in Ecosystem Sustainability”</a:t>
            </a:r>
            <a:endParaRPr sz="2400" dirty="0"/>
          </a:p>
        </p:txBody>
      </p:sp>
      <p:sp>
        <p:nvSpPr>
          <p:cNvPr id="278" name="Google Shape;278;p8"/>
          <p:cNvSpPr txBox="1">
            <a:spLocks noGrp="1"/>
          </p:cNvSpPr>
          <p:nvPr>
            <p:ph type="body" idx="1"/>
          </p:nvPr>
        </p:nvSpPr>
        <p:spPr>
          <a:xfrm>
            <a:off x="725955" y="2730341"/>
            <a:ext cx="3354662" cy="112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/>
            <a:r>
              <a:rPr lang="en-US" dirty="0" smtClean="0"/>
              <a:t>”Decomposers break down organic </a:t>
            </a:r>
            <a:r>
              <a:rPr lang="en-US" dirty="0" err="1" smtClean="0"/>
              <a:t>matter,recycling</a:t>
            </a:r>
            <a:r>
              <a:rPr lang="en-US" dirty="0" smtClean="0"/>
              <a:t>  nutrients back into the </a:t>
            </a:r>
            <a:r>
              <a:rPr lang="en-US" dirty="0" err="1" smtClean="0"/>
              <a:t>soil.This</a:t>
            </a:r>
            <a:r>
              <a:rPr lang="en-US" dirty="0" smtClean="0"/>
              <a:t> process supports plant growth and sustains the ecosystem’s nutrient cycle.”</a:t>
            </a:r>
            <a:endParaRPr lang="en-US" dirty="0"/>
          </a:p>
        </p:txBody>
      </p:sp>
      <p:sp>
        <p:nvSpPr>
          <p:cNvPr id="279" name="Google Shape;279;p8"/>
          <p:cNvSpPr/>
          <p:nvPr/>
        </p:nvSpPr>
        <p:spPr>
          <a:xfrm>
            <a:off x="1470660" y="4222550"/>
            <a:ext cx="2758068" cy="27580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0" y="461038"/>
            <a:ext cx="3549628" cy="12037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614047" y="4157047"/>
            <a:ext cx="676548" cy="676548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p8"/>
          <p:cNvGrpSpPr/>
          <p:nvPr/>
        </p:nvGrpSpPr>
        <p:grpSpPr>
          <a:xfrm>
            <a:off x="4290594" y="817153"/>
            <a:ext cx="914556" cy="718263"/>
            <a:chOff x="388620" y="1420922"/>
            <a:chExt cx="679997" cy="534048"/>
          </a:xfrm>
        </p:grpSpPr>
        <p:sp>
          <p:nvSpPr>
            <p:cNvPr id="283" name="Google Shape;283;p8"/>
            <p:cNvSpPr/>
            <p:nvPr/>
          </p:nvSpPr>
          <p:spPr>
            <a:xfrm>
              <a:off x="388620" y="1420923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541020" y="1420923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693420" y="1420923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845820" y="1420922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998220" y="1420922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388620" y="1573323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541020" y="1573323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693420" y="1573323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845820" y="1573322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998220" y="1573322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388620" y="1728948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541020" y="1728948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693420" y="1728948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845820" y="1728947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998220" y="1728947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388620" y="1884573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541020" y="1884573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693420" y="1884573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845820" y="1884572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998220" y="1884572"/>
              <a:ext cx="70397" cy="70397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8"/>
          <p:cNvSpPr/>
          <p:nvPr/>
        </p:nvSpPr>
        <p:spPr>
          <a:xfrm flipH="1">
            <a:off x="8173403" y="1708136"/>
            <a:ext cx="633175" cy="63317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 flipH="1">
            <a:off x="8173403" y="2300949"/>
            <a:ext cx="633175" cy="63317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 flipH="1">
            <a:off x="8173404" y="2903958"/>
            <a:ext cx="633175" cy="63317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0" y="0"/>
            <a:ext cx="4498282" cy="5143500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0" y="0"/>
            <a:ext cx="9146717" cy="51435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1"/>
          <p:cNvSpPr/>
          <p:nvPr/>
        </p:nvSpPr>
        <p:spPr>
          <a:xfrm>
            <a:off x="6804592" y="2510948"/>
            <a:ext cx="743280" cy="74328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1"/>
          <p:cNvSpPr/>
          <p:nvPr/>
        </p:nvSpPr>
        <p:spPr>
          <a:xfrm flipH="1">
            <a:off x="6674039" y="2380105"/>
            <a:ext cx="1004386" cy="1004386"/>
          </a:xfrm>
          <a:prstGeom prst="pie">
            <a:avLst>
              <a:gd name="adj1" fmla="val 450310"/>
              <a:gd name="adj2" fmla="val 1620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4669424" y="2513875"/>
            <a:ext cx="743280" cy="74328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1"/>
          <p:cNvSpPr txBox="1">
            <a:spLocks noGrp="1"/>
          </p:cNvSpPr>
          <p:nvPr>
            <p:ph type="title"/>
          </p:nvPr>
        </p:nvSpPr>
        <p:spPr>
          <a:xfrm>
            <a:off x="723900" y="588169"/>
            <a:ext cx="7696200" cy="93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3800"/>
            </a:pPr>
            <a:r>
              <a:rPr lang="en-US" dirty="0" smtClean="0"/>
              <a:t>Before</a:t>
            </a:r>
            <a:endParaRPr dirty="0"/>
          </a:p>
        </p:txBody>
      </p:sp>
      <p:sp>
        <p:nvSpPr>
          <p:cNvPr id="488" name="Google Shape;488;p11"/>
          <p:cNvSpPr txBox="1"/>
          <p:nvPr/>
        </p:nvSpPr>
        <p:spPr>
          <a:xfrm>
            <a:off x="6252244" y="3662350"/>
            <a:ext cx="1921703" cy="53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erif Display"/>
              <a:buNone/>
            </a:pPr>
            <a:r>
              <a:rPr lang="en" sz="2400" dirty="0" smtClean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Waste accumulation</a:t>
            </a:r>
            <a:endParaRPr sz="2400" b="0" i="0" u="none" strike="noStrike" cap="none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1" name="Google Shape;491;p11"/>
          <p:cNvSpPr txBox="1"/>
          <p:nvPr/>
        </p:nvSpPr>
        <p:spPr>
          <a:xfrm>
            <a:off x="4100921" y="3624250"/>
            <a:ext cx="1918387" cy="53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erif Display"/>
              <a:buNone/>
            </a:pPr>
            <a:r>
              <a:rPr lang="en" sz="2400" b="0" i="0" u="none" strike="noStrike" cap="none" dirty="0" smtClean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nutrient availability</a:t>
            </a:r>
            <a:endParaRPr sz="2400" b="0" i="0" u="none" strike="noStrike" cap="none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2" name="Google Shape;492;p11"/>
          <p:cNvSpPr/>
          <p:nvPr/>
        </p:nvSpPr>
        <p:spPr>
          <a:xfrm flipH="1">
            <a:off x="4549578" y="2389772"/>
            <a:ext cx="994719" cy="994719"/>
          </a:xfrm>
          <a:prstGeom prst="pie">
            <a:avLst>
              <a:gd name="adj1" fmla="val 9906549"/>
              <a:gd name="adj2" fmla="val 1620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3" name="Google Shape;493;p11"/>
          <p:cNvSpPr txBox="1"/>
          <p:nvPr/>
        </p:nvSpPr>
        <p:spPr>
          <a:xfrm>
            <a:off x="959492" y="1815239"/>
            <a:ext cx="2457078" cy="53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erif Display"/>
              <a:buNone/>
            </a:pPr>
            <a:r>
              <a:rPr lang="en" sz="2600" b="0" i="0" u="none" strike="noStrike" cap="none" dirty="0" smtClean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decomposers</a:t>
            </a:r>
            <a:endParaRPr sz="2600" b="0" i="0" u="none" strike="noStrike" cap="none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4" name="Google Shape;494;p11"/>
          <p:cNvSpPr txBox="1"/>
          <p:nvPr/>
        </p:nvSpPr>
        <p:spPr>
          <a:xfrm>
            <a:off x="719138" y="2310149"/>
            <a:ext cx="2937786" cy="228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 smtClean="0"/>
              <a:t>"Decomposers are vital for ecosystem health. They enrich soil, maintain nutrient balance, remove waste, control diseases, and support biodiversity."</a:t>
            </a:r>
            <a:endParaRPr sz="1500" b="0" i="0" u="none" strike="noStrike" cap="none" dirty="0">
              <a:solidFill>
                <a:srgbClr val="0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495" name="Google Shape;495;p11"/>
          <p:cNvSpPr txBox="1"/>
          <p:nvPr/>
        </p:nvSpPr>
        <p:spPr>
          <a:xfrm>
            <a:off x="6176044" y="1815529"/>
            <a:ext cx="1921703" cy="53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erif Display"/>
              <a:buNone/>
            </a:pPr>
            <a:r>
              <a:rPr lang="en" sz="26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70%</a:t>
            </a:r>
            <a:endParaRPr sz="2600" b="0" i="0" u="none" strike="noStrike" cap="none">
              <a:solidFill>
                <a:schemeClr val="accen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6" name="Google Shape;496;p11"/>
          <p:cNvSpPr txBox="1"/>
          <p:nvPr/>
        </p:nvSpPr>
        <p:spPr>
          <a:xfrm>
            <a:off x="4081871" y="1815239"/>
            <a:ext cx="1918387" cy="53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erif Display"/>
              <a:buNone/>
            </a:pPr>
            <a:r>
              <a:rPr lang="en" sz="26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30%</a:t>
            </a:r>
            <a:endParaRPr sz="2600" b="0" i="0" u="none" strike="noStrike" cap="none">
              <a:solidFill>
                <a:schemeClr val="accen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7" name="Google Shape;497;p11"/>
          <p:cNvSpPr/>
          <p:nvPr/>
        </p:nvSpPr>
        <p:spPr>
          <a:xfrm rot="10800000">
            <a:off x="7397412" y="0"/>
            <a:ext cx="1746588" cy="1746588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/>
          <p:nvPr/>
        </p:nvSpPr>
        <p:spPr>
          <a:xfrm rot="5400000">
            <a:off x="254124" y="-11132"/>
            <a:ext cx="1271239" cy="1271239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2863180" y="4596250"/>
            <a:ext cx="185854" cy="185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3216302" y="4596250"/>
            <a:ext cx="185854" cy="185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3569424" y="4596250"/>
            <a:ext cx="185854" cy="185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3922546" y="4596250"/>
            <a:ext cx="185854" cy="185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741081" y="662519"/>
            <a:ext cx="933450" cy="93345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1"/>
          <p:cNvSpPr/>
          <p:nvPr/>
        </p:nvSpPr>
        <p:spPr>
          <a:xfrm flipH="1">
            <a:off x="8086331" y="437014"/>
            <a:ext cx="633175" cy="633175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1"/>
          <p:cNvSpPr/>
          <p:nvPr/>
        </p:nvSpPr>
        <p:spPr>
          <a:xfrm flipH="1">
            <a:off x="8086331" y="1034930"/>
            <a:ext cx="633175" cy="633175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1"/>
          <p:cNvSpPr/>
          <p:nvPr/>
        </p:nvSpPr>
        <p:spPr>
          <a:xfrm flipH="1">
            <a:off x="8086331" y="1632846"/>
            <a:ext cx="633175" cy="633175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1"/>
          <p:cNvSpPr/>
          <p:nvPr/>
        </p:nvSpPr>
        <p:spPr>
          <a:xfrm>
            <a:off x="6804592" y="2510948"/>
            <a:ext cx="743280" cy="74328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1"/>
          <p:cNvSpPr/>
          <p:nvPr/>
        </p:nvSpPr>
        <p:spPr>
          <a:xfrm flipH="1">
            <a:off x="6674039" y="2380105"/>
            <a:ext cx="1004386" cy="1004386"/>
          </a:xfrm>
          <a:prstGeom prst="pie">
            <a:avLst>
              <a:gd name="adj1" fmla="val 450310"/>
              <a:gd name="adj2" fmla="val 1620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4669424" y="2513875"/>
            <a:ext cx="743280" cy="74328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1"/>
          <p:cNvSpPr txBox="1">
            <a:spLocks noGrp="1"/>
          </p:cNvSpPr>
          <p:nvPr>
            <p:ph type="title"/>
          </p:nvPr>
        </p:nvSpPr>
        <p:spPr>
          <a:xfrm>
            <a:off x="723900" y="588169"/>
            <a:ext cx="7696200" cy="93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3800"/>
            </a:pPr>
            <a:r>
              <a:rPr lang="en-US" dirty="0" smtClean="0"/>
              <a:t>after</a:t>
            </a:r>
            <a:endParaRPr dirty="0"/>
          </a:p>
        </p:txBody>
      </p:sp>
      <p:sp>
        <p:nvSpPr>
          <p:cNvPr id="488" name="Google Shape;488;p11"/>
          <p:cNvSpPr txBox="1"/>
          <p:nvPr/>
        </p:nvSpPr>
        <p:spPr>
          <a:xfrm>
            <a:off x="6252244" y="3662350"/>
            <a:ext cx="1921703" cy="53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erif Display"/>
              <a:buNone/>
            </a:pPr>
            <a:r>
              <a:rPr lang="en" sz="2400" dirty="0" smtClean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Waste accumulation</a:t>
            </a:r>
            <a:endParaRPr sz="2400" b="0" i="0" u="none" strike="noStrike" cap="none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1" name="Google Shape;491;p11"/>
          <p:cNvSpPr txBox="1"/>
          <p:nvPr/>
        </p:nvSpPr>
        <p:spPr>
          <a:xfrm>
            <a:off x="4100921" y="3624250"/>
            <a:ext cx="1918387" cy="53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erif Display"/>
              <a:buNone/>
            </a:pPr>
            <a:r>
              <a:rPr lang="en" sz="2400" b="0" i="0" u="none" strike="noStrike" cap="none" dirty="0" smtClean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nutrient availability</a:t>
            </a:r>
            <a:endParaRPr sz="2400" b="0" i="0" u="none" strike="noStrike" cap="none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2" name="Google Shape;492;p11"/>
          <p:cNvSpPr/>
          <p:nvPr/>
        </p:nvSpPr>
        <p:spPr>
          <a:xfrm flipH="1">
            <a:off x="4549578" y="2389772"/>
            <a:ext cx="994719" cy="994719"/>
          </a:xfrm>
          <a:prstGeom prst="pie">
            <a:avLst>
              <a:gd name="adj1" fmla="val 9906549"/>
              <a:gd name="adj2" fmla="val 1620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3" name="Google Shape;493;p11"/>
          <p:cNvSpPr txBox="1"/>
          <p:nvPr/>
        </p:nvSpPr>
        <p:spPr>
          <a:xfrm>
            <a:off x="959492" y="1815239"/>
            <a:ext cx="2457078" cy="53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erif Display"/>
              <a:buNone/>
            </a:pPr>
            <a:r>
              <a:rPr lang="en" sz="2600" b="0" i="0" u="none" strike="noStrike" cap="none" dirty="0" smtClean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decomposers</a:t>
            </a:r>
            <a:endParaRPr sz="2600" b="0" i="0" u="none" strike="noStrike" cap="none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4" name="Google Shape;494;p11"/>
          <p:cNvSpPr txBox="1"/>
          <p:nvPr/>
        </p:nvSpPr>
        <p:spPr>
          <a:xfrm>
            <a:off x="719138" y="2310149"/>
            <a:ext cx="2937786" cy="228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 smtClean="0"/>
              <a:t>"Decomposers are vital for ecosystem health. They enrich soil, maintain nutrient balance, remove waste, control diseases, and support biodiversity."</a:t>
            </a:r>
            <a:endParaRPr sz="1500" b="0" i="0" u="none" strike="noStrike" cap="none" dirty="0">
              <a:solidFill>
                <a:srgbClr val="0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495" name="Google Shape;495;p11"/>
          <p:cNvSpPr txBox="1"/>
          <p:nvPr/>
        </p:nvSpPr>
        <p:spPr>
          <a:xfrm>
            <a:off x="6176044" y="1815529"/>
            <a:ext cx="1921703" cy="53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erif Display"/>
              <a:buNone/>
            </a:pPr>
            <a:r>
              <a:rPr lang="en" sz="2600" dirty="0" smtClean="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15</a:t>
            </a:r>
            <a:r>
              <a:rPr lang="en" sz="2600" b="0" i="0" u="none" strike="noStrike" cap="none" dirty="0" smtClean="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%</a:t>
            </a:r>
            <a:endParaRPr sz="2600" b="0" i="0" u="none" strike="noStrike" cap="none" dirty="0">
              <a:solidFill>
                <a:schemeClr val="accen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6" name="Google Shape;496;p11"/>
          <p:cNvSpPr txBox="1"/>
          <p:nvPr/>
        </p:nvSpPr>
        <p:spPr>
          <a:xfrm>
            <a:off x="4081871" y="1815239"/>
            <a:ext cx="1918387" cy="53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erif Display"/>
              <a:buNone/>
            </a:pPr>
            <a:r>
              <a:rPr lang="en" sz="2600" dirty="0" smtClean="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85</a:t>
            </a:r>
            <a:r>
              <a:rPr lang="en" sz="2600" b="0" i="0" u="none" strike="noStrike" cap="none" dirty="0" smtClean="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%</a:t>
            </a:r>
            <a:endParaRPr sz="2600" b="0" i="0" u="none" strike="noStrike" cap="none" dirty="0">
              <a:solidFill>
                <a:schemeClr val="accen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7" name="Google Shape;497;p11"/>
          <p:cNvSpPr/>
          <p:nvPr/>
        </p:nvSpPr>
        <p:spPr>
          <a:xfrm rot="10800000">
            <a:off x="7397412" y="0"/>
            <a:ext cx="1746588" cy="1746588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/>
          <p:nvPr/>
        </p:nvSpPr>
        <p:spPr>
          <a:xfrm rot="5400000">
            <a:off x="254124" y="-11132"/>
            <a:ext cx="1271239" cy="1271239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2863180" y="4596250"/>
            <a:ext cx="185854" cy="185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3216302" y="4596250"/>
            <a:ext cx="185854" cy="185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3569424" y="4596250"/>
            <a:ext cx="185854" cy="185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3922546" y="4596250"/>
            <a:ext cx="185854" cy="185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741081" y="662519"/>
            <a:ext cx="933450" cy="93345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1"/>
          <p:cNvSpPr/>
          <p:nvPr/>
        </p:nvSpPr>
        <p:spPr>
          <a:xfrm flipH="1">
            <a:off x="8086331" y="437014"/>
            <a:ext cx="633175" cy="633175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1"/>
          <p:cNvSpPr/>
          <p:nvPr/>
        </p:nvSpPr>
        <p:spPr>
          <a:xfrm flipH="1">
            <a:off x="8086331" y="1034930"/>
            <a:ext cx="633175" cy="633175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1"/>
          <p:cNvSpPr/>
          <p:nvPr/>
        </p:nvSpPr>
        <p:spPr>
          <a:xfrm flipH="1">
            <a:off x="8086331" y="1632846"/>
            <a:ext cx="633175" cy="633175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/>
          <p:nvPr/>
        </p:nvSpPr>
        <p:spPr>
          <a:xfrm>
            <a:off x="7466536" y="3236374"/>
            <a:ext cx="3848100" cy="3848100"/>
          </a:xfrm>
          <a:prstGeom prst="donu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5202051" y="4425925"/>
            <a:ext cx="3941949" cy="434384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-1279352" y="1452793"/>
            <a:ext cx="2237911" cy="2237911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554360" y="0"/>
            <a:ext cx="2011760" cy="448740"/>
          </a:xfrm>
          <a:prstGeom prst="flowChartProcess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566120" y="0"/>
            <a:ext cx="2011760" cy="44874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577880" y="0"/>
            <a:ext cx="2011760" cy="448740"/>
          </a:xfrm>
          <a:prstGeom prst="flowChartProcess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1518589" y="1253834"/>
            <a:ext cx="6106822" cy="198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95" name="Google Shape;95;p1"/>
          <p:cNvSpPr/>
          <p:nvPr/>
        </p:nvSpPr>
        <p:spPr>
          <a:xfrm>
            <a:off x="1554360" y="0"/>
            <a:ext cx="2011760" cy="5143500"/>
          </a:xfrm>
          <a:prstGeom prst="flowChartProcess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768732" y="0"/>
            <a:ext cx="2011760" cy="514350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5533491" y="0"/>
            <a:ext cx="2011760" cy="5143500"/>
          </a:xfrm>
          <a:prstGeom prst="flowChartProcess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0" y="0"/>
            <a:ext cx="4572000" cy="51435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4572000" y="0"/>
            <a:ext cx="4572000" cy="51435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2543014" y="632718"/>
            <a:ext cx="3848100" cy="3848100"/>
          </a:xfrm>
          <a:prstGeom prst="donu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4386116" y="2484393"/>
            <a:ext cx="3941949" cy="434384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908443" y="1534358"/>
            <a:ext cx="2237911" cy="2237911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nimated Intro for Social Media Platforms by Slidesgo">
  <a:themeElements>
    <a:clrScheme name="Animated Intro for Social Media Platforms">
      <a:dk1>
        <a:srgbClr val="241B5F"/>
      </a:dk1>
      <a:lt1>
        <a:srgbClr val="FDFAE1"/>
      </a:lt1>
      <a:dk2>
        <a:srgbClr val="4A4DE9"/>
      </a:dk2>
      <a:lt2>
        <a:srgbClr val="FFB400"/>
      </a:lt2>
      <a:accent1>
        <a:srgbClr val="FF5A00"/>
      </a:accent1>
      <a:accent2>
        <a:srgbClr val="FF6273"/>
      </a:accent2>
      <a:accent3>
        <a:srgbClr val="FF95A1"/>
      </a:accent3>
      <a:accent4>
        <a:srgbClr val="F3DCC6"/>
      </a:accent4>
      <a:accent5>
        <a:srgbClr val="FFFFFF"/>
      </a:accent5>
      <a:accent6>
        <a:srgbClr val="FFFFF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215</Words>
  <Application>Microsoft Office PowerPoint</Application>
  <PresentationFormat>On-screen Show (16:9)</PresentationFormat>
  <Paragraphs>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Bebas Neue</vt:lpstr>
      <vt:lpstr>DM Serif Display</vt:lpstr>
      <vt:lpstr>Chivo</vt:lpstr>
      <vt:lpstr>Montserrat Medium</vt:lpstr>
      <vt:lpstr>Calibri</vt:lpstr>
      <vt:lpstr>Animated Intro for Social Media Platforms by Slidesgo</vt:lpstr>
      <vt:lpstr>Decomposers and Their Role</vt:lpstr>
      <vt:lpstr>Contents of this topic</vt:lpstr>
      <vt:lpstr>This is a table</vt:lpstr>
      <vt:lpstr>“The Essential Role of Decomposers in Ecosystem Sustainability”</vt:lpstr>
      <vt:lpstr>Before</vt:lpstr>
      <vt:lpstr>after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INTRO FOR SOCIAL MEDIA PLATFORMS</dc:title>
  <cp:lastModifiedBy>veda</cp:lastModifiedBy>
  <cp:revision>10</cp:revision>
  <dcterms:created xsi:type="dcterms:W3CDTF">2021-10-12T08:06:43Z</dcterms:created>
  <dcterms:modified xsi:type="dcterms:W3CDTF">2025-09-18T13:29:00Z</dcterms:modified>
</cp:coreProperties>
</file>